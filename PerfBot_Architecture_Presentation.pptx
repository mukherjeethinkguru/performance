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" cy="6858000"/>
          </a:xfrm>
          <a:prstGeom prst="rect">
            <a:avLst/>
          </a:prstGeom>
          <a:solidFill>
            <a:srgbClr val="FFFFFF">
              <a:alpha val="3000"/>
            </a:srgbClr>
          </a:solidFill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54480" y="0"/>
            <a:ext cx="731520" cy="6858000"/>
          </a:xfrm>
          <a:prstGeom prst="rect">
            <a:avLst/>
          </a:prstGeom>
          <a:solidFill>
            <a:srgbClr val="FFFFFF">
              <a:alpha val="3000"/>
            </a:srgbClr>
          </a:solidFill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0" y="0"/>
            <a:ext cx="731520" cy="6858000"/>
          </a:xfrm>
          <a:prstGeom prst="rect">
            <a:avLst/>
          </a:prstGeom>
          <a:solidFill>
            <a:srgbClr val="FFFFFF">
              <a:alpha val="3000"/>
            </a:srgbClr>
          </a:solidFill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0" y="0"/>
            <a:ext cx="731520" cy="6858000"/>
          </a:xfrm>
          <a:prstGeom prst="rect">
            <a:avLst/>
          </a:prstGeom>
          <a:solidFill>
            <a:srgbClr val="FFFFFF">
              <a:alpha val="3000"/>
            </a:srgbClr>
          </a:solidFill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0"/>
            <a:ext cx="731520" cy="6858000"/>
          </a:xfrm>
          <a:prstGeom prst="rect">
            <a:avLst/>
          </a:prstGeom>
          <a:solidFill>
            <a:srgbClr val="FFFFFF">
              <a:alpha val="3000"/>
            </a:srgbClr>
          </a:solidFill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0"/>
            <a:ext cx="731520" cy="6858000"/>
          </a:xfrm>
          <a:prstGeom prst="rect">
            <a:avLst/>
          </a:prstGeom>
          <a:solidFill>
            <a:srgbClr val="FFFFFF">
              <a:alpha val="3000"/>
            </a:srgbClr>
          </a:solidFill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0" y="0"/>
            <a:ext cx="731520" cy="6858000"/>
          </a:xfrm>
          <a:prstGeom prst="rect">
            <a:avLst/>
          </a:prstGeom>
          <a:solidFill>
            <a:srgbClr val="FFFFFF">
              <a:alpha val="3000"/>
            </a:srgbClr>
          </a:solidFill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0" y="0"/>
            <a:ext cx="731520" cy="6858000"/>
          </a:xfrm>
          <a:prstGeom prst="rect">
            <a:avLst/>
          </a:prstGeom>
          <a:solidFill>
            <a:srgbClr val="FFFFFF">
              <a:alpha val="3000"/>
            </a:srgbClr>
          </a:solidFill>
          <a:ln w="381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0"/>
            <a:ext cx="118414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-914400"/>
            <a:ext cx="4572000" cy="4572000"/>
          </a:xfrm>
          <a:prstGeom prst="ellipse">
            <a:avLst/>
          </a:prstGeom>
          <a:solidFill>
            <a:srgbClr val="4F8EF7">
              <a:alpha val="10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-274320"/>
            <a:ext cx="3200400" cy="32004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280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FRIDAY · SEASON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16916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Bottleneck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640080" y="24231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Bot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640080" y="33375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· GPT-4 · MCP Agents · Choice Architecture · Nudge Engine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3931920"/>
            <a:ext cx="1572768" cy="347472"/>
          </a:xfrm>
          <a:prstGeom prst="rect">
            <a:avLst/>
          </a:prstGeom>
          <a:solidFill>
            <a:srgbClr val="141E4A"/>
          </a:solidFill>
          <a:ln w="12700">
            <a:solidFill>
              <a:srgbClr val="1E2F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9319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LangChain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395728" y="3931920"/>
            <a:ext cx="1572768" cy="347472"/>
          </a:xfrm>
          <a:prstGeom prst="rect">
            <a:avLst/>
          </a:prstGeom>
          <a:solidFill>
            <a:srgbClr val="141E4A"/>
          </a:solidFill>
          <a:ln w="12700">
            <a:solidFill>
              <a:srgbClr val="1E2F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95728" y="39319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GPT-4o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51376" y="3931920"/>
            <a:ext cx="1572768" cy="347472"/>
          </a:xfrm>
          <a:prstGeom prst="rect">
            <a:avLst/>
          </a:prstGeom>
          <a:solidFill>
            <a:srgbClr val="141E4A"/>
          </a:solidFill>
          <a:ln w="12700">
            <a:solidFill>
              <a:srgbClr val="1E2F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51376" y="39319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MCP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07024" y="3931920"/>
            <a:ext cx="1572768" cy="347472"/>
          </a:xfrm>
          <a:prstGeom prst="rect">
            <a:avLst/>
          </a:prstGeom>
          <a:solidFill>
            <a:srgbClr val="141E4A"/>
          </a:solidFill>
          <a:ln w="12700">
            <a:solidFill>
              <a:srgbClr val="1E2F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07024" y="39319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FastAPI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662672" y="3931920"/>
            <a:ext cx="1572768" cy="347472"/>
          </a:xfrm>
          <a:prstGeom prst="rect">
            <a:avLst/>
          </a:prstGeom>
          <a:solidFill>
            <a:srgbClr val="141E4A"/>
          </a:solidFill>
          <a:ln w="12700">
            <a:solidFill>
              <a:srgbClr val="1E2F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62672" y="39319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React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418320" y="3931920"/>
            <a:ext cx="1572768" cy="347472"/>
          </a:xfrm>
          <a:prstGeom prst="rect">
            <a:avLst/>
          </a:prstGeom>
          <a:solidFill>
            <a:srgbClr val="141E4A"/>
          </a:solidFill>
          <a:ln w="12700">
            <a:solidFill>
              <a:srgbClr val="1E2F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18320" y="393192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Nudge Theory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6510528"/>
            <a:ext cx="11841480" cy="347472"/>
          </a:xfrm>
          <a:prstGeom prst="rect">
            <a:avLst/>
          </a:prstGeom>
          <a:solidFill>
            <a:srgbClr val="141E4A"/>
          </a:solidFill>
          <a:ln w="12700">
            <a:solidFill>
              <a:srgbClr val="1E2F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510528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Architect-Grade Agentic Solution  |  Problem · Solution · Architecture · Roadmap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Performance Engineers Struggle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212080" cy="1737360"/>
          </a:xfrm>
          <a:prstGeom prst="rect">
            <a:avLst/>
          </a:prstGeom>
          <a:solidFill>
            <a:srgbClr val="141E4A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1737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002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16276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Overload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199339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metrics, logs, and traces arriving simultaneously from distributed systems. No single view.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463040"/>
            <a:ext cx="5212080" cy="1737360"/>
          </a:xfrm>
          <a:prstGeom prst="rect">
            <a:avLst/>
          </a:prstGeom>
          <a:solidFill>
            <a:srgbClr val="141E4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35040" y="1463040"/>
            <a:ext cx="54864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6002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858000" y="16276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MTTR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0" y="199339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resolution bloated by manual analysis. Engineers spend hours triaging instead of fixing.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566160"/>
            <a:ext cx="5212080" cy="1737360"/>
          </a:xfrm>
          <a:prstGeom prst="rect">
            <a:avLst/>
          </a:prstGeom>
          <a:solidFill>
            <a:srgbClr val="141E4A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566160"/>
            <a:ext cx="54864" cy="1737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03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37307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 Gap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409651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analysis requires deep cross-domain knowledge — DB, JVM, network, OS — rarely in one person.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3566160"/>
            <a:ext cx="5212080" cy="1737360"/>
          </a:xfrm>
          <a:prstGeom prst="rect">
            <a:avLst/>
          </a:prstGeom>
          <a:solidFill>
            <a:srgbClr val="141E4A"/>
          </a:solidFill>
          <a:ln w="19050">
            <a:solidFill>
              <a:srgbClr val="4F8EF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3566160"/>
            <a:ext cx="54864" cy="173736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3703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58000" y="37307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Cost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58000" y="409651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$340–$810/min per major incident. SLA penalties. User churn. Brand damage. All compounding.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577840"/>
            <a:ext cx="11064240" cy="804672"/>
          </a:xfrm>
          <a:prstGeom prst="rect">
            <a:avLst/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6875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Reality: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23160" y="5687568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of P0 incidents take &gt;30 min to diagnose  ·  $5,600 avg cost per minute of downtime (Gartner)  ·  60% of engineers report alert fatigue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PerfBot — Agentic AI Incident Intelligence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657600" cy="3200400"/>
          </a:xfrm>
          <a:prstGeom prst="rect">
            <a:avLst/>
          </a:prstGeom>
          <a:solidFill>
            <a:srgbClr val="141E4A"/>
          </a:solidFill>
          <a:ln w="19050">
            <a:solidFill>
              <a:srgbClr val="4F8EF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36576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002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MCP Pipeline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orchestrates 4 specialised MCP tools: ingest → anomaly detect → severity score → GPT-4 report. Autonomous, self-directed analysis.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61688" y="1463040"/>
            <a:ext cx="3657600" cy="3200400"/>
          </a:xfrm>
          <a:prstGeom prst="rect">
            <a:avLst/>
          </a:prstGeom>
          <a:solidFill>
            <a:srgbClr val="141E4A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61688" y="1463040"/>
            <a:ext cx="36576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4568" y="16002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44568" y="2240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 Engine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44568" y="269748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architecture guides engineers to optimal remediations. Loss framing, social proof, decoy options, friction gates for critical actions.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66176" y="1463040"/>
            <a:ext cx="3657600" cy="3200400"/>
          </a:xfrm>
          <a:prstGeom prst="rect">
            <a:avLst/>
          </a:prstGeom>
          <a:solidFill>
            <a:srgbClr val="141E4A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66176" y="1463040"/>
            <a:ext cx="36576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49056" y="16002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🧪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449056" y="2240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49056" y="269748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simulate metric targets before committing. GPT-4 predicts outcomes, tipping points, and optimal safe thresholds.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892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230368"/>
            <a:ext cx="2011680" cy="1078992"/>
          </a:xfrm>
          <a:prstGeom prst="rect">
            <a:avLst/>
          </a:prstGeom>
          <a:solidFill>
            <a:srgbClr val="0F19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285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5285232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Agent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data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487168" y="55595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43200" y="5230368"/>
            <a:ext cx="2011680" cy="1078992"/>
          </a:xfrm>
          <a:prstGeom prst="rect">
            <a:avLst/>
          </a:prstGeom>
          <a:solidFill>
            <a:srgbClr val="0F1940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0" y="5285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00400" y="5285232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via SSE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73168" y="55595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029200" y="5230368"/>
            <a:ext cx="2011680" cy="1078992"/>
          </a:xfrm>
          <a:prstGeom prst="rect">
            <a:avLst/>
          </a:prstGeom>
          <a:solidFill>
            <a:srgbClr val="0F194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5285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0" y="5285232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tools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059168" y="55595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315200" y="5230368"/>
            <a:ext cx="2011680" cy="1078992"/>
          </a:xfrm>
          <a:prstGeom prst="rect">
            <a:avLst/>
          </a:prstGeom>
          <a:solidFill>
            <a:srgbClr val="0F19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06640" y="5285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72400" y="5285232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incident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345168" y="55595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601200" y="5230368"/>
            <a:ext cx="2011680" cy="1078992"/>
          </a:xfrm>
          <a:prstGeom prst="rect">
            <a:avLst/>
          </a:prstGeom>
          <a:solidFill>
            <a:srgbClr val="0F194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92640" y="5285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058400" y="5285232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Nudge UI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action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GPT-4 + MCP — Layer by Layer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394960" cy="2176272"/>
          </a:xfrm>
          <a:prstGeom prst="rect">
            <a:avLst/>
          </a:prstGeom>
          <a:solidFill>
            <a:srgbClr val="141E4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5394960" cy="347472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721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DATA GENERATION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8562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SyntheticDataAgent (asyncio)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585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scenario types + temporal drift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6609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random selection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asyncio.Queue → fan-out broadcast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417320"/>
            <a:ext cx="5394960" cy="2176272"/>
          </a:xfrm>
          <a:prstGeom prst="rect">
            <a:avLst/>
          </a:prstGeom>
          <a:solidFill>
            <a:srgbClr val="141E4A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417320"/>
            <a:ext cx="5394960" cy="347472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4721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MCP TOOLS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09360" y="18562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ingest_metrics — JSON + regex parse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22585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detect_anomalies — Z-score + thresholds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266090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score_severity — scenario + SLA calc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3063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generate_report — GPT-4 (3 modes)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5394960" cy="2176272"/>
          </a:xfrm>
          <a:prstGeom prst="rect">
            <a:avLst/>
          </a:prstGeom>
          <a:solidFill>
            <a:srgbClr val="141E4A"/>
          </a:solidFill>
          <a:ln w="19050">
            <a:solidFill>
              <a:srgbClr val="4F8EF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886200"/>
            <a:ext cx="5394960" cy="347472"/>
          </a:xfrm>
          <a:prstGeom prst="rect">
            <a:avLst/>
          </a:prstGeom>
          <a:solidFill>
            <a:srgbClr val="4F8EF7">
              <a:alpha val="20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9410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LANGCHAIN AGENTS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43251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OrchestratorAgent — 4-tool pipeline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7274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RemediationAgent — nudge payload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51297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create_openai_tools_agent()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5532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AgentExecutor + intermediate steps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3886200"/>
            <a:ext cx="5394960" cy="2176272"/>
          </a:xfrm>
          <a:prstGeom prst="rect">
            <a:avLst/>
          </a:prstGeom>
          <a:solidFill>
            <a:srgbClr val="141E4A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3886200"/>
            <a:ext cx="5394960" cy="347472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39410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API + FRONTEND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09360" y="43251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SSE (MCP stream)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47274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REST: /analyse /nudge /simulate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51297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 + SSE client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09360" y="5532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Architecture nudge UI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Architecture &amp; Nudge Theory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657600" cy="1993392"/>
          </a:xfrm>
          <a:prstGeom prst="rect">
            <a:avLst/>
          </a:prstGeom>
          <a:solidFill>
            <a:srgbClr val="141E4A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45720" cy="19933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8191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34440" y="16184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Framing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10312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$/min cost + total $ at risk before any action. Engineers respond to loss aversion more than equivalent gains.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61688" y="1417320"/>
            <a:ext cx="3657600" cy="1993392"/>
          </a:xfrm>
          <a:prstGeom prst="rect">
            <a:avLst/>
          </a:prstGeom>
          <a:solidFill>
            <a:srgbClr val="141E4A"/>
          </a:solidFill>
          <a:ln w="12700">
            <a:solidFill>
              <a:srgbClr val="4F8EF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61688" y="1417320"/>
            <a:ext cx="45720" cy="199339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48" y="158191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138928" y="16184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98848" y="210312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peer adoption % per remediation. '89% of engineers chose this' anchors decision-making to group norms.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66176" y="1417320"/>
            <a:ext cx="3657600" cy="1993392"/>
          </a:xfrm>
          <a:prstGeom prst="rect">
            <a:avLst/>
          </a:prstGeom>
          <a:solidFill>
            <a:srgbClr val="141E4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66176" y="1417320"/>
            <a:ext cx="45720" cy="19933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03336" y="158191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043416" y="16184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Decoy Effect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03336" y="210312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LOW/MED/HIGH effort options. Middle option pre-highlighted as optimal — makes best choice the default.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3657600" cy="1993392"/>
          </a:xfrm>
          <a:prstGeom prst="rect">
            <a:avLst/>
          </a:prstGeom>
          <a:solidFill>
            <a:srgbClr val="141E4A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703320"/>
            <a:ext cx="45720" cy="199339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86791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34440" y="39044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Gate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438912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incidents require drag-slider confirm (95% threshold). Prevents panic-clicks on irreversible actions.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61688" y="3703320"/>
            <a:ext cx="3657600" cy="1993392"/>
          </a:xfrm>
          <a:prstGeom prst="rect">
            <a:avLst/>
          </a:prstGeom>
          <a:solidFill>
            <a:srgbClr val="141E4A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61688" y="3703320"/>
            <a:ext cx="45720" cy="19933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98848" y="386791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138928" y="39044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98848" y="438912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generated checklist with progress bar. Once started, completion psychology drives follow-through.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66176" y="3703320"/>
            <a:ext cx="3657600" cy="1993392"/>
          </a:xfrm>
          <a:prstGeom prst="rect">
            <a:avLst/>
          </a:prstGeom>
          <a:solidFill>
            <a:srgbClr val="141E4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66176" y="3703320"/>
            <a:ext cx="45720" cy="19933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03336" y="386791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🧪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043416" y="39044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403336" y="438912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sliders show projected SLA status &amp; cost before action. Informed engineers make safer choices.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ARCHITECT'S LENS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More Could Be Done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280160" y="137160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41732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37360" y="1545336"/>
            <a:ext cx="2331720" cy="54864"/>
          </a:xfrm>
          <a:prstGeom prst="rect">
            <a:avLst/>
          </a:prstGeom>
          <a:solidFill>
            <a:srgbClr val="1E2F6B"/>
          </a:solidFill>
          <a:ln w="12700">
            <a:solidFill>
              <a:srgbClr val="1E2F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51960" y="1371600"/>
            <a:ext cx="457200" cy="45720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141732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545336"/>
            <a:ext cx="2331720" cy="54864"/>
          </a:xfrm>
          <a:prstGeom prst="rect">
            <a:avLst/>
          </a:prstGeom>
          <a:solidFill>
            <a:srgbClr val="1E2F6B"/>
          </a:solidFill>
          <a:ln w="12700">
            <a:solidFill>
              <a:srgbClr val="1E2F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37160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86600" y="141732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680960" y="1545336"/>
            <a:ext cx="2331720" cy="54864"/>
          </a:xfrm>
          <a:prstGeom prst="rect">
            <a:avLst/>
          </a:prstGeom>
          <a:solidFill>
            <a:srgbClr val="1E2F6B"/>
          </a:solidFill>
          <a:ln w="12700">
            <a:solidFill>
              <a:srgbClr val="1E2F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95560" y="137160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0" y="141732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0C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Q4+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1993392"/>
            <a:ext cx="2560320" cy="4297680"/>
          </a:xfrm>
          <a:prstGeom prst="rect">
            <a:avLst/>
          </a:prstGeom>
          <a:solidFill>
            <a:srgbClr val="141E4A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1993392"/>
            <a:ext cx="256032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257860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2542032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log ingestion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(CloudWatch, Datadog, ELK)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" y="384048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3803904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snapshot store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Redis / TimescaleDB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510235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5065776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anomaly detection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GPT-4 reports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520440" y="1993392"/>
            <a:ext cx="2560320" cy="4297680"/>
          </a:xfrm>
          <a:prstGeom prst="rect">
            <a:avLst/>
          </a:prstGeom>
          <a:solidFill>
            <a:srgbClr val="141E4A"/>
          </a:solidFill>
          <a:ln w="12700">
            <a:solidFill>
              <a:srgbClr val="4F8EF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20440" y="1993392"/>
            <a:ext cx="2560320" cy="54864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0" y="2578608"/>
            <a:ext cx="164592" cy="16459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04488" y="2542032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runbooks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(FAISS + LangChain)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0" y="3840480"/>
            <a:ext cx="164592" cy="16459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04488" y="3803904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event streaming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asyncio queue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0" y="5102352"/>
            <a:ext cx="164592" cy="16459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04488" y="5065776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debate: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GPT-4 agents cross-check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92240" y="1993392"/>
            <a:ext cx="2560320" cy="4297680"/>
          </a:xfrm>
          <a:prstGeom prst="rect">
            <a:avLst/>
          </a:prstGeom>
          <a:solidFill>
            <a:srgbClr val="141E4A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92240" y="1993392"/>
            <a:ext cx="25603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940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629400" y="2578608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76288" y="2542032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Auto-remediation executor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(guarded by approval flow)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629400" y="3840480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76288" y="3803904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feedback loop: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engineer outcomes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629400" y="5102352"/>
            <a:ext cx="164592" cy="16459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76288" y="5065776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/ PagerDuty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integration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464040" y="1993392"/>
            <a:ext cx="2560320" cy="4297680"/>
          </a:xfrm>
          <a:prstGeom prst="rect">
            <a:avLst/>
          </a:prstGeom>
          <a:solidFill>
            <a:srgbClr val="141E4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464040" y="1993392"/>
            <a:ext cx="25603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601200" y="2103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601200" y="257860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848088" y="2542032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incident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(pre-alert)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601200" y="384048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848088" y="3803904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simulation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production topology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601200" y="5102352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848088" y="5065776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audit trail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SOC2 evidence export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Elevating from Prototype to Enterprise Grade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577840" cy="1572768"/>
          </a:xfrm>
          <a:prstGeom prst="rect">
            <a:avLst/>
          </a:prstGeom>
          <a:solidFill>
            <a:srgbClr val="141E4A"/>
          </a:solidFill>
          <a:ln w="12700">
            <a:solidFill>
              <a:srgbClr val="4F8EF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45720" cy="15727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5087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" y="18288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collector — vendor-neutral metrics, traces, logs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218541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tracing: correlate trace IDs across microservices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25420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 (Istio) for L7 visibility without code changes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577840" cy="1572768"/>
          </a:xfrm>
          <a:prstGeom prst="rect">
            <a:avLst/>
          </a:prstGeom>
          <a:solidFill>
            <a:srgbClr val="141E4A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1417320"/>
            <a:ext cx="45720" cy="15727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15087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73952" y="18288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Kafka: replace asyncio queue — persistent, replay-able, scalable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73952" y="218541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 / TimescaleDB for high-frequency metric storage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73952" y="25420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 (Feast) for ML feature versioning across agents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154680"/>
            <a:ext cx="5577840" cy="1572768"/>
          </a:xfrm>
          <a:prstGeom prst="rect">
            <a:avLst/>
          </a:prstGeom>
          <a:solidFill>
            <a:srgbClr val="141E4A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154680"/>
            <a:ext cx="45720" cy="15727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2461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AGENTS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1792" y="35661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debate: two GPT-4 agents propose &amp; critique diagnoses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" y="392277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pipeline: FAISS index over runbooks, past incident RCAs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" y="427939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model on internal incident corpus (OpenAI fine-tune API)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09360" y="3154680"/>
            <a:ext cx="5577840" cy="1572768"/>
          </a:xfrm>
          <a:prstGeom prst="rect">
            <a:avLst/>
          </a:prstGeom>
          <a:solidFill>
            <a:srgbClr val="141E4A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0" y="3154680"/>
            <a:ext cx="45720" cy="15727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32461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73952" y="35661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engineering validation: inject faults to test bot accuracy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73952" y="392277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approval gates before auto-remediation exec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73952" y="427939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on GPT-4 calls — fallback to rule-based analysis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892040"/>
            <a:ext cx="5577840" cy="1572768"/>
          </a:xfrm>
          <a:prstGeom prst="rect">
            <a:avLst/>
          </a:prstGeom>
          <a:solidFill>
            <a:srgbClr val="141E4A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4892040"/>
            <a:ext cx="45720" cy="157276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49834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/ COMPLIANCE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" y="5303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Zero-trust: all agent tool calls signed + audited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" y="566013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scrubbing pipeline before logs reach GPT-4 (Presidio)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" y="60167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 for every AI recommendation + action taken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09360" y="4892040"/>
            <a:ext cx="5577840" cy="1572768"/>
          </a:xfrm>
          <a:prstGeom prst="rect">
            <a:avLst/>
          </a:prstGeom>
          <a:solidFill>
            <a:srgbClr val="141E4A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09360" y="4892040"/>
            <a:ext cx="45720" cy="1572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73952" y="49834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73952" y="5303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Operator: CRDs for incident types and remediation runbooks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73952" y="566013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for agent configs: version-controlled nudge strategies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73952" y="601675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active-active: incident bot must survive regional failure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MULTI-AGENT TOPOLOGY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Agents at Scale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0" y="2194560"/>
            <a:ext cx="1828800" cy="10972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0" y="21945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011680" cy="914400"/>
          </a:xfrm>
          <a:prstGeom prst="rect">
            <a:avLst/>
          </a:prstGeom>
          <a:solidFill>
            <a:srgbClr val="141E4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2011680" cy="914400"/>
          </a:xfrm>
          <a:prstGeom prst="rect">
            <a:avLst/>
          </a:prstGeom>
          <a:solidFill>
            <a:srgbClr val="141E4A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747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0" y="685800"/>
            <a:ext cx="2011680" cy="914400"/>
          </a:xfrm>
          <a:prstGeom prst="rect">
            <a:avLst/>
          </a:prstGeom>
          <a:solidFill>
            <a:srgbClr val="141E4A"/>
          </a:solidFill>
          <a:ln w="19050">
            <a:solidFill>
              <a:srgbClr val="4F8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685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0" y="4160520"/>
            <a:ext cx="2011680" cy="914400"/>
          </a:xfrm>
          <a:prstGeom prst="rect">
            <a:avLst/>
          </a:prstGeom>
          <a:solidFill>
            <a:srgbClr val="141E4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41605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0" y="1371600"/>
            <a:ext cx="2011680" cy="914400"/>
          </a:xfrm>
          <a:prstGeom prst="rect">
            <a:avLst/>
          </a:prstGeom>
          <a:solidFill>
            <a:srgbClr val="141E4A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13716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0" y="3474720"/>
            <a:ext cx="2011680" cy="914400"/>
          </a:xfrm>
          <a:prstGeom prst="rect">
            <a:avLst/>
          </a:prstGeom>
          <a:solidFill>
            <a:srgbClr val="141E4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34747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Auto-Exec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502920"/>
            <a:ext cx="2011680" cy="914400"/>
          </a:xfrm>
          <a:prstGeom prst="rect">
            <a:avLst/>
          </a:prstGeom>
          <a:solidFill>
            <a:srgbClr val="141E4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5029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77840" y="4251960"/>
            <a:ext cx="2011680" cy="914400"/>
          </a:xfrm>
          <a:prstGeom prst="rect">
            <a:avLst/>
          </a:prstGeom>
          <a:solidFill>
            <a:srgbClr val="141E4A"/>
          </a:solidFill>
          <a:ln w="19050">
            <a:solidFill>
              <a:srgbClr val="FCD3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42519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5486400"/>
            <a:ext cx="11155680" cy="1005840"/>
          </a:xfrm>
          <a:prstGeom prst="rect">
            <a:avLst/>
          </a:prstGeom>
          <a:solidFill>
            <a:srgbClr val="141E4A"/>
          </a:solidFill>
          <a:ln w="12700">
            <a:solidFill>
              <a:srgbClr val="1E2F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577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Pattern: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06040" y="5559552"/>
            <a:ext cx="8686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orchestrates specialist sub-agents via LangGraph. Each agent has bounded tools. Human-in-loop gates between diagnosis → remediation → execution. Debate pattern: Root Cause Agent A &amp; B independently analyse then reconcile.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Impact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560320" cy="1645920"/>
          </a:xfrm>
          <a:prstGeom prst="rect">
            <a:avLst/>
          </a:prstGeom>
          <a:solidFill>
            <a:srgbClr val="141E4A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56032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26771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73552" y="1371600"/>
            <a:ext cx="2560320" cy="1645920"/>
          </a:xfrm>
          <a:prstGeom prst="rect">
            <a:avLst/>
          </a:prstGeom>
          <a:solidFill>
            <a:srgbClr val="141E4A"/>
          </a:solidFill>
          <a:ln w="25400">
            <a:solidFill>
              <a:srgbClr val="4F8EF7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73552" y="1371600"/>
            <a:ext cx="256032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3552" y="14630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73552" y="226771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9904" y="1371600"/>
            <a:ext cx="2560320" cy="1645920"/>
          </a:xfrm>
          <a:prstGeom prst="rect">
            <a:avLst/>
          </a:prstGeom>
          <a:solidFill>
            <a:srgbClr val="141E4A"/>
          </a:solidFill>
          <a:ln w="25400">
            <a:solidFill>
              <a:srgbClr val="8B5CF6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9904" y="1371600"/>
            <a:ext cx="256032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9904" y="14630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089904" y="226771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adoption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nudge rec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06256" y="1371600"/>
            <a:ext cx="2560320" cy="1645920"/>
          </a:xfrm>
          <a:prstGeom prst="rect">
            <a:avLst/>
          </a:prstGeom>
          <a:solidFill>
            <a:srgbClr val="141E4A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906256" y="1371600"/>
            <a:ext cx="256032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06256" y="14630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$2.1M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906256" y="226771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100 engineers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246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611880"/>
            <a:ext cx="3163824" cy="438912"/>
          </a:xfrm>
          <a:prstGeom prst="rect">
            <a:avLst/>
          </a:prstGeom>
          <a:solidFill>
            <a:srgbClr val="0F1940"/>
          </a:solidFill>
          <a:ln w="6350">
            <a:solidFill>
              <a:srgbClr val="1E2F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611880"/>
            <a:ext cx="3035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749040" y="3611880"/>
            <a:ext cx="1792224" cy="438912"/>
          </a:xfrm>
          <a:prstGeom prst="rect">
            <a:avLst/>
          </a:prstGeom>
          <a:solidFill>
            <a:srgbClr val="0F1940"/>
          </a:solidFill>
          <a:ln w="6350">
            <a:solidFill>
              <a:srgbClr val="1E2F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0" y="3611880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23560" y="3611880"/>
            <a:ext cx="2249424" cy="438912"/>
          </a:xfrm>
          <a:prstGeom prst="rect">
            <a:avLst/>
          </a:prstGeom>
          <a:solidFill>
            <a:srgbClr val="0F1940"/>
          </a:solidFill>
          <a:ln w="6350">
            <a:solidFill>
              <a:srgbClr val="1E2F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15000" y="3611880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(6M)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955280" y="3611880"/>
            <a:ext cx="2249424" cy="438912"/>
          </a:xfrm>
          <a:prstGeom prst="rect">
            <a:avLst/>
          </a:prstGeom>
          <a:solidFill>
            <a:srgbClr val="0F1940"/>
          </a:solidFill>
          <a:ln w="6350">
            <a:solidFill>
              <a:srgbClr val="1E2F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0" y="3611880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(12M)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4087368"/>
            <a:ext cx="3163824" cy="438912"/>
          </a:xfrm>
          <a:prstGeom prst="rect">
            <a:avLst/>
          </a:prstGeom>
          <a:solidFill>
            <a:srgbClr val="080C20"/>
          </a:solidFill>
          <a:ln w="6350">
            <a:solidFill>
              <a:srgbClr val="1E2F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087368"/>
            <a:ext cx="3035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Diagnose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749040" y="4087368"/>
            <a:ext cx="1792224" cy="438912"/>
          </a:xfrm>
          <a:prstGeom prst="rect">
            <a:avLst/>
          </a:prstGeom>
          <a:solidFill>
            <a:srgbClr val="080C20"/>
          </a:solidFill>
          <a:ln w="6350">
            <a:solidFill>
              <a:srgbClr val="1E2F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0" y="4087368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min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23560" y="4087368"/>
            <a:ext cx="2249424" cy="438912"/>
          </a:xfrm>
          <a:prstGeom prst="rect">
            <a:avLst/>
          </a:prstGeom>
          <a:solidFill>
            <a:srgbClr val="080C20"/>
          </a:solidFill>
          <a:ln w="6350">
            <a:solidFill>
              <a:srgbClr val="1E2F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15000" y="4087368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955280" y="4087368"/>
            <a:ext cx="2249424" cy="438912"/>
          </a:xfrm>
          <a:prstGeom prst="rect">
            <a:avLst/>
          </a:prstGeom>
          <a:solidFill>
            <a:srgbClr val="080C20"/>
          </a:solidFill>
          <a:ln w="6350">
            <a:solidFill>
              <a:srgbClr val="1E2F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46720" y="4087368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min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" y="4562856"/>
            <a:ext cx="3163824" cy="438912"/>
          </a:xfrm>
          <a:prstGeom prst="rect">
            <a:avLst/>
          </a:prstGeom>
          <a:solidFill>
            <a:srgbClr val="141E4A"/>
          </a:solidFill>
          <a:ln w="6350">
            <a:solidFill>
              <a:srgbClr val="1E2F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4562856"/>
            <a:ext cx="3035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749040" y="4562856"/>
            <a:ext cx="1792224" cy="438912"/>
          </a:xfrm>
          <a:prstGeom prst="rect">
            <a:avLst/>
          </a:prstGeom>
          <a:solidFill>
            <a:srgbClr val="141E4A"/>
          </a:solidFill>
          <a:ln w="6350">
            <a:solidFill>
              <a:srgbClr val="1E2F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0" y="4562856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623560" y="4562856"/>
            <a:ext cx="2249424" cy="438912"/>
          </a:xfrm>
          <a:prstGeom prst="rect">
            <a:avLst/>
          </a:prstGeom>
          <a:solidFill>
            <a:srgbClr val="141E4A"/>
          </a:solidFill>
          <a:ln w="6350">
            <a:solidFill>
              <a:srgbClr val="1E2F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15000" y="4562856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955280" y="4562856"/>
            <a:ext cx="2249424" cy="438912"/>
          </a:xfrm>
          <a:prstGeom prst="rect">
            <a:avLst/>
          </a:prstGeom>
          <a:solidFill>
            <a:srgbClr val="141E4A"/>
          </a:solidFill>
          <a:ln w="6350">
            <a:solidFill>
              <a:srgbClr val="1E2F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46720" y="4562856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5%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02920" y="5038344"/>
            <a:ext cx="3163824" cy="438912"/>
          </a:xfrm>
          <a:prstGeom prst="rect">
            <a:avLst/>
          </a:prstGeom>
          <a:solidFill>
            <a:srgbClr val="080C20"/>
          </a:solidFill>
          <a:ln w="6350">
            <a:solidFill>
              <a:srgbClr val="1E2F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" y="5038344"/>
            <a:ext cx="3035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adoption rate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749040" y="5038344"/>
            <a:ext cx="1792224" cy="438912"/>
          </a:xfrm>
          <a:prstGeom prst="rect">
            <a:avLst/>
          </a:prstGeom>
          <a:solidFill>
            <a:srgbClr val="080C20"/>
          </a:solidFill>
          <a:ln w="6350">
            <a:solidFill>
              <a:srgbClr val="1E2F6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40480" y="5038344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623560" y="5038344"/>
            <a:ext cx="2249424" cy="438912"/>
          </a:xfrm>
          <a:prstGeom prst="rect">
            <a:avLst/>
          </a:prstGeom>
          <a:solidFill>
            <a:srgbClr val="080C20"/>
          </a:solidFill>
          <a:ln w="6350">
            <a:solidFill>
              <a:srgbClr val="1E2F6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15000" y="5038344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70%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955280" y="5038344"/>
            <a:ext cx="2249424" cy="438912"/>
          </a:xfrm>
          <a:prstGeom prst="rect">
            <a:avLst/>
          </a:prstGeom>
          <a:solidFill>
            <a:srgbClr val="080C20"/>
          </a:solidFill>
          <a:ln w="6350">
            <a:solidFill>
              <a:srgbClr val="1E2F6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046720" y="5038344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90%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02920" y="5513832"/>
            <a:ext cx="3163824" cy="438912"/>
          </a:xfrm>
          <a:prstGeom prst="rect">
            <a:avLst/>
          </a:prstGeom>
          <a:solidFill>
            <a:srgbClr val="141E4A"/>
          </a:solidFill>
          <a:ln w="6350">
            <a:solidFill>
              <a:srgbClr val="1E2F6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4360" y="5513832"/>
            <a:ext cx="3035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Auto-remediation success rate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749040" y="5513832"/>
            <a:ext cx="1792224" cy="438912"/>
          </a:xfrm>
          <a:prstGeom prst="rect">
            <a:avLst/>
          </a:prstGeom>
          <a:solidFill>
            <a:srgbClr val="141E4A"/>
          </a:solidFill>
          <a:ln w="6350">
            <a:solidFill>
              <a:srgbClr val="1E2F6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40480" y="5513832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623560" y="5513832"/>
            <a:ext cx="2249424" cy="438912"/>
          </a:xfrm>
          <a:prstGeom prst="rect">
            <a:avLst/>
          </a:prstGeom>
          <a:solidFill>
            <a:srgbClr val="141E4A"/>
          </a:solidFill>
          <a:ln w="6350">
            <a:solidFill>
              <a:srgbClr val="1E2F6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15000" y="5513832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80%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955280" y="5513832"/>
            <a:ext cx="2249424" cy="438912"/>
          </a:xfrm>
          <a:prstGeom prst="rect">
            <a:avLst/>
          </a:prstGeom>
          <a:solidFill>
            <a:srgbClr val="141E4A"/>
          </a:solidFill>
          <a:ln w="6350">
            <a:solidFill>
              <a:srgbClr val="1E2F6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46720" y="5513832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95%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02920" y="5989320"/>
            <a:ext cx="3163824" cy="438912"/>
          </a:xfrm>
          <a:prstGeom prst="rect">
            <a:avLst/>
          </a:prstGeom>
          <a:solidFill>
            <a:srgbClr val="080C20"/>
          </a:solidFill>
          <a:ln w="6350">
            <a:solidFill>
              <a:srgbClr val="1E2F6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4360" y="5989320"/>
            <a:ext cx="3035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satisfaction (NPS)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749040" y="5989320"/>
            <a:ext cx="1792224" cy="438912"/>
          </a:xfrm>
          <a:prstGeom prst="rect">
            <a:avLst/>
          </a:prstGeom>
          <a:solidFill>
            <a:srgbClr val="080C20"/>
          </a:solidFill>
          <a:ln w="6350">
            <a:solidFill>
              <a:srgbClr val="1E2F6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840480" y="5989320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623560" y="5989320"/>
            <a:ext cx="2249424" cy="438912"/>
          </a:xfrm>
          <a:prstGeom prst="rect">
            <a:avLst/>
          </a:prstGeom>
          <a:solidFill>
            <a:srgbClr val="080C20"/>
          </a:solidFill>
          <a:ln w="6350">
            <a:solidFill>
              <a:srgbClr val="1E2F6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715000" y="5989320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7955280" y="5989320"/>
            <a:ext cx="2249424" cy="438912"/>
          </a:xfrm>
          <a:prstGeom prst="rect">
            <a:avLst/>
          </a:prstGeom>
          <a:solidFill>
            <a:srgbClr val="080C20"/>
          </a:solidFill>
          <a:ln w="6350">
            <a:solidFill>
              <a:srgbClr val="1E2F6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046720" y="5989320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70+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4F8EF7">
              <a:alpha val="5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3200400"/>
            <a:ext cx="2743200" cy="2743200"/>
          </a:xfrm>
          <a:prstGeom prst="ellipse">
            <a:avLst/>
          </a:prstGeom>
          <a:solidFill>
            <a:srgbClr val="4F8EF7">
              <a:alpha val="5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3200400"/>
            <a:ext cx="2743200" cy="2743200"/>
          </a:xfrm>
          <a:prstGeom prst="ellipse">
            <a:avLst/>
          </a:prstGeom>
          <a:solidFill>
            <a:srgbClr val="4F8EF7">
              <a:alpha val="5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3200400"/>
            <a:ext cx="2743200" cy="2743200"/>
          </a:xfrm>
          <a:prstGeom prst="ellipse">
            <a:avLst/>
          </a:prstGeom>
          <a:solidFill>
            <a:srgbClr val="4F8EF7">
              <a:alpha val="5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3200400"/>
            <a:ext cx="2743200" cy="2743200"/>
          </a:xfrm>
          <a:prstGeom prst="ellipse">
            <a:avLst/>
          </a:prstGeom>
          <a:solidFill>
            <a:srgbClr val="4F8EF7">
              <a:alpha val="5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0" y="3200400"/>
            <a:ext cx="2743200" cy="2743200"/>
          </a:xfrm>
          <a:prstGeom prst="ellipse">
            <a:avLst/>
          </a:prstGeom>
          <a:solidFill>
            <a:srgbClr val="4F8EF7">
              <a:alpha val="5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766560"/>
            <a:ext cx="12161520" cy="91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FRIDAY · SEASON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3258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PerfBot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914400" y="23774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fire-fighting to proactive AI-guided resolution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71600" y="3200400"/>
            <a:ext cx="9418320" cy="640080"/>
          </a:xfrm>
          <a:prstGeom prst="rect">
            <a:avLst/>
          </a:prstGeom>
          <a:solidFill>
            <a:srgbClr val="141E4A"/>
          </a:solidFill>
          <a:ln w="12700">
            <a:solidFill>
              <a:srgbClr val="1E2F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321868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11680" y="32461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MCP pipeline with LangChain + GPT-4 cuts diagnosis time by 70%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371600" y="3950208"/>
            <a:ext cx="9418320" cy="640080"/>
          </a:xfrm>
          <a:prstGeom prst="rect">
            <a:avLst/>
          </a:prstGeom>
          <a:solidFill>
            <a:srgbClr val="141E4A"/>
          </a:solidFill>
          <a:ln w="12700">
            <a:solidFill>
              <a:srgbClr val="1E2F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396849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011680" y="3995928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architecture nudges guide engineers to optimal decisions under pressure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71600" y="4700016"/>
            <a:ext cx="9418320" cy="640080"/>
          </a:xfrm>
          <a:prstGeom prst="rect">
            <a:avLst/>
          </a:prstGeom>
          <a:solidFill>
            <a:srgbClr val="141E4A"/>
          </a:solidFill>
          <a:ln w="12700">
            <a:solidFill>
              <a:srgbClr val="1E2F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3040" y="471830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011680" y="4745736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roadmap scales to RAG, multi-agent debate, auto-remediation + RL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6263640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AI Friday Season 2  ·  LangChain + GPT-4o + MCP + FastAPI + React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PerfBot — AI Performance Bottleneck Bot</dc:title>
  <dc:subject>PptxGenJS Presentation</dc:subject>
  <dc:creator>AI Friday Season 2</dc:creator>
  <cp:lastModifiedBy>AI Friday Season 2</cp:lastModifiedBy>
  <cp:revision>1</cp:revision>
  <dcterms:created xsi:type="dcterms:W3CDTF">2026-03-20T05:33:40Z</dcterms:created>
  <dcterms:modified xsi:type="dcterms:W3CDTF">2026-03-20T05:33:40Z</dcterms:modified>
</cp:coreProperties>
</file>